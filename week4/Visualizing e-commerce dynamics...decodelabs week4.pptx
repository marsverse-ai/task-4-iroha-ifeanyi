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4"/>
    <p:sldMasterId id="2147483804" r:id="rId5"/>
  </p:sldMasterIdLst>
  <p:notesMasterIdLst>
    <p:notesMasterId r:id="rId16"/>
  </p:notesMasterIdLst>
  <p:sldIdLst>
    <p:sldId id="256" r:id="rId6"/>
    <p:sldId id="258" r:id="rId7"/>
    <p:sldId id="257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cuments\Decoedlabs%20intern%20program\project%204%20for%20decodelab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cuments\Decoedlabs%20intern%20program\project%204%20for%20decodelab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cuments\Decoedlabs%20intern%20program\project%204%20for%20decodelab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cuments\Decoedlabs%20intern%20program\project%204%20for%20decodelab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cuments\Decoedlabs%20intern%20program\project%204%20for%20decodelab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cuments\Decoedlabs%20intern%20program\project%204%20for%20decodelab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4 for decodelabs.xlsx]Visuals!PivotTable7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/>
              <a:t>Revenue</a:t>
            </a:r>
            <a:r>
              <a:rPr lang="en-US" sz="1800" b="1" baseline="0"/>
              <a:t> By Product</a:t>
            </a:r>
            <a:endParaRPr lang="en-US" sz="18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</c:pivotFmt>
      <c:pivotFmt>
        <c:idx val="5"/>
        <c:spPr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</c:pivotFmt>
      <c:pivotFmt>
        <c:idx val="8"/>
        <c:spPr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c:spPr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Visuals!$B$3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ABF-4663-8C05-FC8D92D744DB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ABF-4663-8C05-FC8D92D744D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Visuals!$A$4:$A$11</c:f>
              <c:strCache>
                <c:ptCount val="7"/>
                <c:pt idx="0">
                  <c:v>Chair</c:v>
                </c:pt>
                <c:pt idx="1">
                  <c:v>Desk</c:v>
                </c:pt>
                <c:pt idx="2">
                  <c:v>Laptop</c:v>
                </c:pt>
                <c:pt idx="3">
                  <c:v>Monitor</c:v>
                </c:pt>
                <c:pt idx="4">
                  <c:v>Phone</c:v>
                </c:pt>
                <c:pt idx="5">
                  <c:v>Printer</c:v>
                </c:pt>
                <c:pt idx="6">
                  <c:v>Tablet</c:v>
                </c:pt>
              </c:strCache>
            </c:strRef>
          </c:cat>
          <c:val>
            <c:numRef>
              <c:f>Visuals!$B$4:$B$11</c:f>
              <c:numCache>
                <c:formatCode>0.00</c:formatCode>
                <c:ptCount val="7"/>
                <c:pt idx="0">
                  <c:v>195620.11000000002</c:v>
                </c:pt>
                <c:pt idx="1">
                  <c:v>167459.93</c:v>
                </c:pt>
                <c:pt idx="2">
                  <c:v>192126.55999999994</c:v>
                </c:pt>
                <c:pt idx="3">
                  <c:v>175651.40999999997</c:v>
                </c:pt>
                <c:pt idx="4">
                  <c:v>151722.39000000001</c:v>
                </c:pt>
                <c:pt idx="5">
                  <c:v>195612.60999999996</c:v>
                </c:pt>
                <c:pt idx="6">
                  <c:v>186568.95000000007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ABF-4663-8C05-FC8D92D744D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831873536"/>
        <c:axId val="831874016"/>
      </c:barChart>
      <c:catAx>
        <c:axId val="8318735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1874016"/>
        <c:crosses val="autoZero"/>
        <c:auto val="1"/>
        <c:lblAlgn val="ctr"/>
        <c:lblOffset val="100"/>
        <c:noMultiLvlLbl val="0"/>
      </c:catAx>
      <c:valAx>
        <c:axId val="831874016"/>
        <c:scaling>
          <c:orientation val="minMax"/>
        </c:scaling>
        <c:delete val="1"/>
        <c:axPos val="b"/>
        <c:numFmt formatCode="0.00" sourceLinked="1"/>
        <c:majorTickMark val="out"/>
        <c:minorTickMark val="none"/>
        <c:tickLblPos val="nextTo"/>
        <c:crossAx val="831873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4 for decodelabs.xlsx]Visuals!PivotTable8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/>
              <a:t>Order</a:t>
            </a:r>
            <a:r>
              <a:rPr lang="en-US" sz="1800" b="1" baseline="0"/>
              <a:t> Status Measure</a:t>
            </a:r>
            <a:endParaRPr lang="en-US" sz="18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7.9136482939632546E-2"/>
          <c:y val="0.18504629629629626"/>
          <c:w val="0.89030796150481195"/>
          <c:h val="0.69866542723826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Visuals!$B$20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19B-4CD9-985D-DD7DCBD4AEE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Visuals!$A$21:$A$26</c:f>
              <c:strCache>
                <c:ptCount val="5"/>
                <c:pt idx="0">
                  <c:v>Cancelled</c:v>
                </c:pt>
                <c:pt idx="1">
                  <c:v>Delivered</c:v>
                </c:pt>
                <c:pt idx="2">
                  <c:v>Pending</c:v>
                </c:pt>
                <c:pt idx="3">
                  <c:v>Returned</c:v>
                </c:pt>
                <c:pt idx="4">
                  <c:v>Shipped</c:v>
                </c:pt>
              </c:strCache>
            </c:strRef>
          </c:cat>
          <c:val>
            <c:numRef>
              <c:f>Visuals!$B$21:$B$26</c:f>
              <c:numCache>
                <c:formatCode>General</c:formatCode>
                <c:ptCount val="5"/>
                <c:pt idx="0">
                  <c:v>250</c:v>
                </c:pt>
                <c:pt idx="1">
                  <c:v>231</c:v>
                </c:pt>
                <c:pt idx="2">
                  <c:v>237</c:v>
                </c:pt>
                <c:pt idx="3">
                  <c:v>247</c:v>
                </c:pt>
                <c:pt idx="4">
                  <c:v>235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19B-4CD9-985D-DD7DCBD4AE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41698256"/>
        <c:axId val="841680976"/>
      </c:barChart>
      <c:catAx>
        <c:axId val="841698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1680976"/>
        <c:crosses val="autoZero"/>
        <c:auto val="1"/>
        <c:lblAlgn val="ctr"/>
        <c:lblOffset val="100"/>
        <c:noMultiLvlLbl val="0"/>
      </c:catAx>
      <c:valAx>
        <c:axId val="841680976"/>
        <c:scaling>
          <c:orientation val="minMax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1698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4 for decodelabs.xlsx]Visuals!PivotTable11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/>
              <a:t>Where Customers Came</a:t>
            </a:r>
            <a:r>
              <a:rPr lang="en-US" sz="1800" b="1" baseline="0"/>
              <a:t> From More</a:t>
            </a:r>
            <a:endParaRPr lang="en-US" sz="18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Visuals!$B$68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A62-44DD-BC22-0C574924F0D0}"/>
              </c:ext>
            </c:extLst>
          </c:dPt>
          <c:cat>
            <c:strRef>
              <c:f>Visuals!$A$69:$A$74</c:f>
              <c:strCache>
                <c:ptCount val="5"/>
                <c:pt idx="0">
                  <c:v>Email</c:v>
                </c:pt>
                <c:pt idx="1">
                  <c:v>Facebook</c:v>
                </c:pt>
                <c:pt idx="2">
                  <c:v>Google</c:v>
                </c:pt>
                <c:pt idx="3">
                  <c:v>Instagram</c:v>
                </c:pt>
                <c:pt idx="4">
                  <c:v>Referral</c:v>
                </c:pt>
              </c:strCache>
            </c:strRef>
          </c:cat>
          <c:val>
            <c:numRef>
              <c:f>Visuals!$B$69:$B$74</c:f>
              <c:numCache>
                <c:formatCode>General</c:formatCode>
                <c:ptCount val="5"/>
                <c:pt idx="0">
                  <c:v>250</c:v>
                </c:pt>
                <c:pt idx="1">
                  <c:v>228</c:v>
                </c:pt>
                <c:pt idx="2">
                  <c:v>241</c:v>
                </c:pt>
                <c:pt idx="3">
                  <c:v>259</c:v>
                </c:pt>
                <c:pt idx="4">
                  <c:v>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62-44DD-BC22-0C574924F0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73152432"/>
        <c:axId val="973153872"/>
      </c:barChart>
      <c:catAx>
        <c:axId val="973152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3153872"/>
        <c:crosses val="autoZero"/>
        <c:auto val="1"/>
        <c:lblAlgn val="ctr"/>
        <c:lblOffset val="100"/>
        <c:noMultiLvlLbl val="0"/>
      </c:catAx>
      <c:valAx>
        <c:axId val="973153872"/>
        <c:scaling>
          <c:orientation val="minMax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3152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4 for decodelabs.xlsx]Visuals!PivotTable9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/>
              <a:t>Most</a:t>
            </a:r>
            <a:r>
              <a:rPr lang="en-US" sz="1800" b="1" baseline="0"/>
              <a:t> Payment Method Used</a:t>
            </a:r>
            <a:endParaRPr lang="en-US" sz="18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Visuals!$B$36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E92-4BCC-A0DE-744CEF7B351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Visuals!$A$37:$A$42</c:f>
              <c:strCache>
                <c:ptCount val="5"/>
                <c:pt idx="0">
                  <c:v>Cash</c:v>
                </c:pt>
                <c:pt idx="1">
                  <c:v>Credit Card</c:v>
                </c:pt>
                <c:pt idx="2">
                  <c:v>Debit Card</c:v>
                </c:pt>
                <c:pt idx="3">
                  <c:v>Gift Card</c:v>
                </c:pt>
                <c:pt idx="4">
                  <c:v>Online</c:v>
                </c:pt>
              </c:strCache>
            </c:strRef>
          </c:cat>
          <c:val>
            <c:numRef>
              <c:f>Visuals!$B$37:$B$42</c:f>
              <c:numCache>
                <c:formatCode>General</c:formatCode>
                <c:ptCount val="5"/>
                <c:pt idx="0">
                  <c:v>246</c:v>
                </c:pt>
                <c:pt idx="1">
                  <c:v>234</c:v>
                </c:pt>
                <c:pt idx="2">
                  <c:v>232</c:v>
                </c:pt>
                <c:pt idx="3">
                  <c:v>230</c:v>
                </c:pt>
                <c:pt idx="4">
                  <c:v>258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E92-4BCC-A0DE-744CEF7B35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00668848"/>
        <c:axId val="900665488"/>
      </c:barChart>
      <c:catAx>
        <c:axId val="900668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0665488"/>
        <c:crosses val="autoZero"/>
        <c:auto val="1"/>
        <c:lblAlgn val="ctr"/>
        <c:lblOffset val="100"/>
        <c:noMultiLvlLbl val="0"/>
      </c:catAx>
      <c:valAx>
        <c:axId val="900665488"/>
        <c:scaling>
          <c:orientation val="minMax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0668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4 for decodelabs.xlsx]Visuals!PivotTable10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/>
              <a:t>Coupon</a:t>
            </a:r>
            <a:r>
              <a:rPr lang="en-US" sz="1800" b="1" baseline="0"/>
              <a:t> Code Usage</a:t>
            </a:r>
            <a:endParaRPr lang="en-US" sz="18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Visuals!$B$52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DB2-4406-B290-A0B25425060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DB2-4406-B290-A0B25425060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Visuals!$A$53:$A$57</c:f>
              <c:strCache>
                <c:ptCount val="4"/>
                <c:pt idx="0">
                  <c:v>FREESHIP</c:v>
                </c:pt>
                <c:pt idx="1">
                  <c:v>N/A</c:v>
                </c:pt>
                <c:pt idx="2">
                  <c:v>SAVE10</c:v>
                </c:pt>
                <c:pt idx="3">
                  <c:v>WINTER15</c:v>
                </c:pt>
              </c:strCache>
            </c:strRef>
          </c:cat>
          <c:val>
            <c:numRef>
              <c:f>Visuals!$B$53:$B$57</c:f>
              <c:numCache>
                <c:formatCode>General</c:formatCode>
                <c:ptCount val="4"/>
                <c:pt idx="0">
                  <c:v>313</c:v>
                </c:pt>
                <c:pt idx="1">
                  <c:v>309</c:v>
                </c:pt>
                <c:pt idx="2">
                  <c:v>286</c:v>
                </c:pt>
                <c:pt idx="3">
                  <c:v>292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B2-4406-B290-A0B25425060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74857104"/>
        <c:axId val="974856624"/>
      </c:barChart>
      <c:catAx>
        <c:axId val="974857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856624"/>
        <c:crosses val="autoZero"/>
        <c:auto val="1"/>
        <c:lblAlgn val="ctr"/>
        <c:lblOffset val="100"/>
        <c:noMultiLvlLbl val="0"/>
      </c:catAx>
      <c:valAx>
        <c:axId val="974856624"/>
        <c:scaling>
          <c:orientation val="minMax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857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4 for decodelabs.xlsx]Visuals!PivotTable12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/>
              <a:t>Revenue</a:t>
            </a:r>
            <a:r>
              <a:rPr lang="en-US" sz="1800" b="1" baseline="0"/>
              <a:t> By Year</a:t>
            </a:r>
            <a:endParaRPr lang="en-US" sz="18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tx2">
                <a:lumMod val="25000"/>
                <a:lumOff val="7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 w="28575" cap="rnd">
            <a:solidFill>
              <a:schemeClr val="tx2">
                <a:lumMod val="25000"/>
                <a:lumOff val="7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 w="28575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 w="28575" cap="rnd">
            <a:solidFill>
              <a:schemeClr val="tx2">
                <a:lumMod val="25000"/>
                <a:lumOff val="7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 w="28575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none"/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Visuals!$B$85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tx2">
                  <a:lumMod val="25000"/>
                  <a:lumOff val="75000"/>
                </a:schemeClr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8575" cap="rnd">
                <a:solidFill>
                  <a:schemeClr val="tx2">
                    <a:lumMod val="90000"/>
                    <a:lumOff val="1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A3F4-45FB-9F7E-71168BB30CB2}"/>
              </c:ext>
            </c:extLst>
          </c:dPt>
          <c:dPt>
            <c:idx val="1"/>
            <c:marker>
              <c:symbol val="none"/>
            </c:marker>
            <c:bubble3D val="0"/>
            <c:spPr>
              <a:ln w="28575" cap="rnd">
                <a:solidFill>
                  <a:schemeClr val="accent3">
                    <a:lumMod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A3F4-45FB-9F7E-71168BB30CB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Visuals!$A$86:$A$89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Visuals!$B$86:$B$89</c:f>
              <c:numCache>
                <c:formatCode>0.00</c:formatCode>
                <c:ptCount val="3"/>
                <c:pt idx="0">
                  <c:v>552643.23999999976</c:v>
                </c:pt>
                <c:pt idx="1">
                  <c:v>480235.87000000034</c:v>
                </c:pt>
                <c:pt idx="2">
                  <c:v>231882.85000000006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3F4-45FB-9F7E-71168BB30C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41675696"/>
        <c:axId val="841696336"/>
      </c:lineChart>
      <c:catAx>
        <c:axId val="841675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1696336"/>
        <c:crosses val="autoZero"/>
        <c:auto val="1"/>
        <c:lblAlgn val="ctr"/>
        <c:lblOffset val="100"/>
        <c:noMultiLvlLbl val="0"/>
      </c:catAx>
      <c:valAx>
        <c:axId val="841696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1675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EC2B7-5603-E847-9CCD-B17BCD70217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AB055-8057-8042-A9DC-340E25EB4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2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9631D5-4CBA-B958-66E5-1D06CE60A685}"/>
              </a:ext>
            </a:extLst>
          </p:cNvPr>
          <p:cNvSpPr/>
          <p:nvPr/>
        </p:nvSpPr>
        <p:spPr>
          <a:xfrm>
            <a:off x="457200" y="1110996"/>
            <a:ext cx="11277600" cy="46360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E59B00B-2A72-3526-46B5-2D31EFBA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394139"/>
            <a:ext cx="5336630" cy="4069724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53AC4E3-F9DF-C029-69FF-01D7C04DE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370" y="6031065"/>
            <a:ext cx="9144000" cy="54864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47A7DF-A880-1D22-F809-631CB36C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3520" y="430684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9645FC2-7E06-2307-2D7B-2B52E501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9450" y="430684"/>
            <a:ext cx="2743200" cy="365125"/>
          </a:xfrm>
        </p:spPr>
        <p:txBody>
          <a:bodyPr/>
          <a:lstStyle/>
          <a:p>
            <a:fld id="{C6B4DC52-CC44-D647-BBB1-762854F46572}" type="datetime1">
              <a:rPr lang="en-US" smtClean="0"/>
              <a:t>6/7/2026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CE0142-6727-D96E-8B4C-F8DC42F3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300" y="6126480"/>
            <a:ext cx="36576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40B778AE-8D30-EC43-B255-420E7914C179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1" name="Picture 10" descr="A lemons on a branch&#10;&#10;AI-generated content may be incorrect.">
            <a:extLst>
              <a:ext uri="{FF2B5EF4-FFF2-40B4-BE49-F238E27FC236}">
                <a16:creationId xmlns:a16="http://schemas.microsoft.com/office/drawing/2014/main" id="{617993DE-FCA3-752E-CB4D-EE0CBE74D2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594"/>
          <a:stretch>
            <a:fillRect/>
          </a:stretch>
        </p:blipFill>
        <p:spPr>
          <a:xfrm>
            <a:off x="6251965" y="1110995"/>
            <a:ext cx="5482836" cy="463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2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100584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4480"/>
            <a:ext cx="11274552" cy="429768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2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C43E3D-F1B4-8814-CBFD-54B6394BA78F}"/>
              </a:ext>
            </a:extLst>
          </p:cNvPr>
          <p:cNvSpPr/>
          <p:nvPr/>
        </p:nvSpPr>
        <p:spPr>
          <a:xfrm>
            <a:off x="0" y="0"/>
            <a:ext cx="12192000" cy="40720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4480560"/>
            <a:ext cx="11274552" cy="9969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532535"/>
            <a:ext cx="11274552" cy="54864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1"/>
            <a:ext cx="11274552" cy="3111499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9749300-EB7F-2826-88A0-CB3E4B36C0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C0BE1CD-8E53-8DE9-82CF-9813E2925E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85CE52D-B630-4803-B6B1-978CBC39E2B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E2FA9DB-1C23-8847-8157-4FA9725CC381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02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187BAA-B8F3-6F9A-35D6-79C20A14A9DC}"/>
              </a:ext>
            </a:extLst>
          </p:cNvPr>
          <p:cNvSpPr/>
          <p:nvPr/>
        </p:nvSpPr>
        <p:spPr>
          <a:xfrm>
            <a:off x="5090160" y="-1"/>
            <a:ext cx="710184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7" y="548640"/>
            <a:ext cx="4175760" cy="3657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492488"/>
            <a:ext cx="4175760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3C3368D-40FA-88E5-2622-5C794E187D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ABA8E-1A54-1C96-093B-B44E62007A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9077" y="6126480"/>
            <a:ext cx="210312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07656-FDD0-1CCB-57C9-0B3A32C50C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06709" y="6126480"/>
            <a:ext cx="1626250" cy="365125"/>
          </a:xfrm>
        </p:spPr>
        <p:txBody>
          <a:bodyPr/>
          <a:lstStyle/>
          <a:p>
            <a:fld id="{84E3F07D-7317-3440-A531-3AA29DD45979}" type="datetime1">
              <a:rPr lang="en-US" smtClean="0"/>
              <a:t>6/7/2026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47360" y="457200"/>
            <a:ext cx="6187440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48527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2DD718-F017-AE4C-FB9F-B4557EA33522}"/>
              </a:ext>
            </a:extLst>
          </p:cNvPr>
          <p:cNvSpPr/>
          <p:nvPr/>
        </p:nvSpPr>
        <p:spPr>
          <a:xfrm>
            <a:off x="0" y="-1"/>
            <a:ext cx="716280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2618" y="457200"/>
            <a:ext cx="4112182" cy="432031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2618" y="4870174"/>
            <a:ext cx="4114800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57200" y="457200"/>
            <a:ext cx="623625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746577E-8831-2287-F882-043365FBE3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30823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8256CB-DBBA-7F98-5D6E-65BAC308069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28420" y="6126480"/>
            <a:ext cx="2717314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97DDC16-6E73-6885-8380-0E401292C07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5734" y="6126480"/>
            <a:ext cx="991684" cy="365125"/>
          </a:xfrm>
        </p:spPr>
        <p:txBody>
          <a:bodyPr/>
          <a:lstStyle/>
          <a:p>
            <a:fld id="{28CD2E8A-C0A9-4347-A584-9C026C30AB40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71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246537-4B75-474B-2A12-4A3572BEA2EC}"/>
              </a:ext>
            </a:extLst>
          </p:cNvPr>
          <p:cNvSpPr/>
          <p:nvPr/>
        </p:nvSpPr>
        <p:spPr>
          <a:xfrm>
            <a:off x="0" y="-1"/>
            <a:ext cx="731520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0584" y="457200"/>
            <a:ext cx="4114800" cy="379972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0581" y="4403039"/>
            <a:ext cx="3959352" cy="146304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457200"/>
            <a:ext cx="6400800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F15057E-7A11-B5DB-0534-D815398664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776118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574E8DD-5B33-6D4C-0DDF-CB27D8491EE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3715" y="6126480"/>
            <a:ext cx="2522862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DF415EC-0AD6-6198-0FC5-D47053F2FBF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81835" y="6126480"/>
            <a:ext cx="948098" cy="365125"/>
          </a:xfrm>
        </p:spPr>
        <p:txBody>
          <a:bodyPr/>
          <a:lstStyle/>
          <a:p>
            <a:fld id="{B2E8E543-FE9A-4843-9AB8-691F5895E16D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73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95BD72-5536-F3FE-33EF-8633D55A2D61}"/>
              </a:ext>
            </a:extLst>
          </p:cNvPr>
          <p:cNvSpPr/>
          <p:nvPr/>
        </p:nvSpPr>
        <p:spPr>
          <a:xfrm>
            <a:off x="468772" y="1155432"/>
            <a:ext cx="11274552" cy="42538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59B19-9CED-B375-2B62-A6035F09E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724" y="5656357"/>
            <a:ext cx="11274552" cy="935512"/>
          </a:xfrm>
        </p:spPr>
        <p:txBody>
          <a:bodyPr anchor="ctr" anchorCtr="0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A7984-A4B6-F007-847A-B07D938E6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1329" y="365760"/>
            <a:ext cx="8349343" cy="54070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3C01443A-552D-4FF4-DE2A-271C95288D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6459" y="1155432"/>
            <a:ext cx="4279082" cy="459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65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1DE5E9-85A8-0FC5-7F43-2E0EABF782DF}"/>
              </a:ext>
            </a:extLst>
          </p:cNvPr>
          <p:cNvSpPr/>
          <p:nvPr/>
        </p:nvSpPr>
        <p:spPr>
          <a:xfrm>
            <a:off x="457200" y="457199"/>
            <a:ext cx="4092338" cy="5943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50CA3D-7603-670A-D8C7-708AE9FA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198" y="1711444"/>
            <a:ext cx="6858001" cy="492977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11682ED-44B0-7547-E137-F0B1DA936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383629"/>
            <a:ext cx="3899647" cy="97715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pic>
        <p:nvPicPr>
          <p:cNvPr id="6" name="Picture 5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15BE8FF9-7851-AB46-405F-0AA70A4B66A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613" t="-1" b="-3044"/>
          <a:stretch>
            <a:fillRect/>
          </a:stretch>
        </p:blipFill>
        <p:spPr>
          <a:xfrm>
            <a:off x="457200" y="460148"/>
            <a:ext cx="4710576" cy="639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7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457198"/>
            <a:ext cx="5140452" cy="61996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A4AE76-095C-A207-5846-53F5F689F718}"/>
              </a:ext>
            </a:extLst>
          </p:cNvPr>
          <p:cNvSpPr/>
          <p:nvPr/>
        </p:nvSpPr>
        <p:spPr>
          <a:xfrm>
            <a:off x="6096000" y="457200"/>
            <a:ext cx="5617029" cy="59436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lemons on a branch with blue leaves&#10;&#10;AI-generated content may be incorrect.">
            <a:extLst>
              <a:ext uri="{FF2B5EF4-FFF2-40B4-BE49-F238E27FC236}">
                <a16:creationId xmlns:a16="http://schemas.microsoft.com/office/drawing/2014/main" id="{65E78305-C5E3-6063-CB40-26C0D5E00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553" y="457194"/>
            <a:ext cx="7277476" cy="594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85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798790"/>
            <a:ext cx="6400800" cy="1247197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03520" y="2557825"/>
            <a:ext cx="6400800" cy="3185025"/>
          </a:xfrm>
        </p:spPr>
        <p:txBody>
          <a:bodyPr anchor="b" anchorCtr="0"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180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60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40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F1D5-6C74-2344-B02C-988BD7DE5058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81EAF-576F-9050-A03B-54F899B4C07A}"/>
              </a:ext>
            </a:extLst>
          </p:cNvPr>
          <p:cNvSpPr/>
          <p:nvPr/>
        </p:nvSpPr>
        <p:spPr>
          <a:xfrm>
            <a:off x="411481" y="914400"/>
            <a:ext cx="4389990" cy="47548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lemon on a branch&#10;&#10;AI-generated content may be incorrect.">
            <a:extLst>
              <a:ext uri="{FF2B5EF4-FFF2-40B4-BE49-F238E27FC236}">
                <a16:creationId xmlns:a16="http://schemas.microsoft.com/office/drawing/2014/main" id="{C7EE14FD-1F7E-7416-B121-07AC7950D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54" y="557784"/>
            <a:ext cx="4798070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3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5F09020-BF03-712A-9029-505DB1E628D4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399"/>
            <a:ext cx="3749040" cy="2834640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0568" y="914399"/>
            <a:ext cx="6126480" cy="4480560"/>
          </a:xfrm>
        </p:spPr>
        <p:txBody>
          <a:bodyPr anchor="t" anchorCtr="0"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180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60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40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26B5E-0855-9440-AA3D-7D15E0A5A0A9}" type="datetime1">
              <a:rPr lang="en-US" smtClean="0"/>
              <a:t>6/7/2026</a:t>
            </a:fld>
            <a:endParaRPr lang="en-US"/>
          </a:p>
        </p:txBody>
      </p:sp>
      <p:pic>
        <p:nvPicPr>
          <p:cNvPr id="12" name="Picture 11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8C201F69-ACDC-EC3F-66B0-D7107872DC8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69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B4B979-1FB0-5E72-46AC-50BC7CFE6907}"/>
              </a:ext>
            </a:extLst>
          </p:cNvPr>
          <p:cNvSpPr/>
          <p:nvPr/>
        </p:nvSpPr>
        <p:spPr>
          <a:xfrm>
            <a:off x="0" y="-1"/>
            <a:ext cx="457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223" y="914400"/>
            <a:ext cx="6126480" cy="1188720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457200"/>
            <a:ext cx="3657600" cy="59436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45224" y="2468880"/>
            <a:ext cx="6126480" cy="3436789"/>
          </a:xfrm>
        </p:spPr>
        <p:txBody>
          <a:bodyPr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2000" baseline="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800" baseline="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600" baseline="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 baseline="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F12806-9D4B-B331-8FBA-9E389069CF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050561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D280FE9-C0C5-BEEF-1C01-F53C19D152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48158" y="612648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13CDBE3-275E-E9FB-D64A-5856C14B07C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29874" y="6126480"/>
            <a:ext cx="1328185" cy="365125"/>
          </a:xfrm>
        </p:spPr>
        <p:txBody>
          <a:bodyPr/>
          <a:lstStyle/>
          <a:p>
            <a:fld id="{20EA976F-543A-3147-8F10-92D90F1FB7DE}" type="datetime1">
              <a:rPr lang="en-US" smtClean="0"/>
              <a:t>6/7/2026</a:t>
            </a:fld>
            <a:endParaRPr lang="en-US"/>
          </a:p>
        </p:txBody>
      </p:sp>
      <p:pic>
        <p:nvPicPr>
          <p:cNvPr id="3" name="Picture 2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61A4B5C7-FD62-4D7D-A791-54AB1ABC8C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4540" y="3003334"/>
            <a:ext cx="41605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264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8786" y="3335364"/>
            <a:ext cx="4659735" cy="1645198"/>
          </a:xfrm>
        </p:spPr>
        <p:txBody>
          <a:bodyPr/>
          <a:lstStyle>
            <a:lvl1pPr marL="0" indent="0" algn="ctr">
              <a:buNone/>
              <a:defRPr sz="1400"/>
            </a:lvl1pPr>
            <a:lvl2pPr marL="228600" indent="0" algn="ctr">
              <a:buNone/>
              <a:defRPr sz="1400"/>
            </a:lvl2pPr>
            <a:lvl3pPr marL="457200" indent="0" algn="ctr">
              <a:buNone/>
              <a:defRPr sz="1400"/>
            </a:lvl3pPr>
            <a:lvl4pPr marL="685800" indent="0" algn="ctr">
              <a:buNone/>
              <a:defRPr sz="1400"/>
            </a:lvl4pPr>
            <a:lvl5pPr marL="91440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2A3C-8A73-964C-A7B1-9C66EB8F456D}" type="datetime1">
              <a:rPr lang="en-US" smtClean="0"/>
              <a:t>6/7/2026</a:t>
            </a:fld>
            <a:endParaRPr lang="en-US"/>
          </a:p>
        </p:txBody>
      </p:sp>
      <p:pic>
        <p:nvPicPr>
          <p:cNvPr id="11" name="Picture 10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BED6ACC6-8535-9138-3CC3-23292E127C1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628"/>
          <a:stretch>
            <a:fillRect/>
          </a:stretch>
        </p:blipFill>
        <p:spPr>
          <a:xfrm flipH="1">
            <a:off x="1638457" y="-1"/>
            <a:ext cx="3509674" cy="1034177"/>
          </a:xfrm>
          <a:prstGeom prst="rect">
            <a:avLst/>
          </a:prstGeom>
        </p:spPr>
      </p:pic>
      <p:pic>
        <p:nvPicPr>
          <p:cNvPr id="13" name="Picture 12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9891E051-0BB5-0815-2DD6-BBEBCE60378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  <p:pic>
        <p:nvPicPr>
          <p:cNvPr id="14" name="Picture 13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B2C36771-C253-85DB-E144-61D9EB19FC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71959" y="780706"/>
            <a:ext cx="2020041" cy="14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72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902447-E63B-C699-1F10-66D1D40394D0}"/>
              </a:ext>
            </a:extLst>
          </p:cNvPr>
          <p:cNvSpPr/>
          <p:nvPr/>
        </p:nvSpPr>
        <p:spPr>
          <a:xfrm>
            <a:off x="-2" y="0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86283C0-8ECE-D2EA-E5E3-6F15CF154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4234" y="1315451"/>
            <a:ext cx="3163825" cy="1888925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0872" y="274320"/>
            <a:ext cx="3657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8469" y="274320"/>
            <a:ext cx="1828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9106" y="274320"/>
            <a:ext cx="938954" cy="365125"/>
          </a:xfrm>
        </p:spPr>
        <p:txBody>
          <a:bodyPr/>
          <a:lstStyle/>
          <a:p>
            <a:fld id="{16BEDD57-7FB0-8C49-978A-2E5AD4193CAB}" type="datetime1">
              <a:rPr lang="en-US" smtClean="0"/>
              <a:t>6/7/2026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7DC67AD-3301-6431-3E36-B83AA13337B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0" y="3335363"/>
            <a:ext cx="3162699" cy="2372709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close up of a blue and yellow leaf&#10;&#10;AI-generated content may be incorrect.">
            <a:extLst>
              <a:ext uri="{FF2B5EF4-FFF2-40B4-BE49-F238E27FC236}">
                <a16:creationId xmlns:a16="http://schemas.microsoft.com/office/drawing/2014/main" id="{F4AA3198-0DF5-E044-FEBD-0A08E92D51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62919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29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902447-E63B-C699-1F10-66D1D40394D0}"/>
              </a:ext>
            </a:extLst>
          </p:cNvPr>
          <p:cNvSpPr/>
          <p:nvPr/>
        </p:nvSpPr>
        <p:spPr>
          <a:xfrm>
            <a:off x="4053840" y="0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F807023-B064-9646-E49E-9AEF600F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15453"/>
            <a:ext cx="3163824" cy="1888923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3249" y="274320"/>
            <a:ext cx="3657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0846" y="274320"/>
            <a:ext cx="1828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9646" y="274320"/>
            <a:ext cx="970791" cy="365125"/>
          </a:xfrm>
        </p:spPr>
        <p:txBody>
          <a:bodyPr/>
          <a:lstStyle/>
          <a:p>
            <a:fld id="{3398BDEE-7079-9E46-9D3D-C026D74D657A}" type="datetime1">
              <a:rPr lang="en-US" smtClean="0"/>
              <a:t>6/7/2026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C2635AD-DF42-C262-C20D-FDB7B41162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335364"/>
            <a:ext cx="3163824" cy="31070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ADF17735-1EF3-3E8F-EE23-73AE24B0CF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5" r="9359" b="30270"/>
          <a:stretch>
            <a:fillRect/>
          </a:stretch>
        </p:blipFill>
        <p:spPr>
          <a:xfrm>
            <a:off x="3795759" y="0"/>
            <a:ext cx="83962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000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37" y="1731332"/>
            <a:ext cx="3493858" cy="34568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727014"/>
            <a:ext cx="4956175" cy="346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DA1B6-7262-A14C-9D8B-572C17D5CCAA}" type="datetime1">
              <a:rPr lang="en-US" smtClean="0"/>
              <a:t>6/7/2026</a:t>
            </a:fld>
            <a:endParaRPr lang="en-US"/>
          </a:p>
        </p:txBody>
      </p:sp>
      <p:pic>
        <p:nvPicPr>
          <p:cNvPr id="7" name="Picture 6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53359F0E-3165-F69F-DECE-2D1FB68E174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0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255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3923455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914400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B914E-727D-924F-AF8C-57D7CD572093}" type="datetime1">
              <a:rPr lang="en-US" smtClean="0"/>
              <a:t>6/7/2026</a:t>
            </a:fld>
            <a:endParaRPr lang="en-US"/>
          </a:p>
        </p:txBody>
      </p:sp>
      <p:pic>
        <p:nvPicPr>
          <p:cNvPr id="3" name="Picture 2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A830C04B-A250-7A15-C730-C6A3AFCB9C1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175848" y="5943599"/>
            <a:ext cx="41605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220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617" y="731520"/>
            <a:ext cx="8658766" cy="1005840"/>
          </a:xfrm>
        </p:spPr>
        <p:txBody>
          <a:bodyPr anchor="b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1AD03-5543-5055-E5F3-2C2E7AF4A65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653413" y="1995858"/>
            <a:ext cx="6884668" cy="3739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F8492AF-A293-67AC-351D-6F8D2EE5A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A12EA25-588C-6976-3F71-17F5A88C9A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8EAD482-3B0C-B1C6-EDE0-9F5AD7972C2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70565B3-CF1A-E942-97FF-0B9F398F7855}" type="datetime1">
              <a:rPr lang="en-US" smtClean="0"/>
              <a:t>6/7/2026</a:t>
            </a:fld>
            <a:endParaRPr lang="en-US"/>
          </a:p>
        </p:txBody>
      </p:sp>
      <p:pic>
        <p:nvPicPr>
          <p:cNvPr id="3" name="Picture 2" descr="A blue leafy plant&#10;&#10;AI-generated content may be incorrect.">
            <a:extLst>
              <a:ext uri="{FF2B5EF4-FFF2-40B4-BE49-F238E27FC236}">
                <a16:creationId xmlns:a16="http://schemas.microsoft.com/office/drawing/2014/main" id="{7514231A-DFF9-EEC8-7FD8-6D51A7E9FF6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73"/>
          <a:stretch>
            <a:fillRect/>
          </a:stretch>
        </p:blipFill>
        <p:spPr>
          <a:xfrm>
            <a:off x="0" y="157646"/>
            <a:ext cx="1757091" cy="1460378"/>
          </a:xfrm>
          <a:prstGeom prst="rect">
            <a:avLst/>
          </a:prstGeom>
        </p:spPr>
      </p:pic>
      <p:pic>
        <p:nvPicPr>
          <p:cNvPr id="9" name="Picture 8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A6D137FE-2907-46A6-B35B-5A4CAE628A4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-1163538" y="2885078"/>
            <a:ext cx="3361254" cy="1034177"/>
          </a:xfrm>
          <a:prstGeom prst="rect">
            <a:avLst/>
          </a:prstGeom>
        </p:spPr>
      </p:pic>
      <p:pic>
        <p:nvPicPr>
          <p:cNvPr id="15" name="Picture 14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04E727C6-2D47-C987-AC9F-2BBBF965423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1893" y="3013349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115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1"/>
            <a:ext cx="3992880" cy="2514599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914400"/>
            <a:ext cx="6957460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77" y="6126480"/>
            <a:ext cx="2403583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A344-177D-9B4D-B4B5-DB629B3B0E97}" type="datetime1">
              <a:rPr lang="en-US" smtClean="0"/>
              <a:t>6/7/2026</a:t>
            </a:fld>
            <a:endParaRPr lang="en-US"/>
          </a:p>
        </p:txBody>
      </p:sp>
      <p:pic>
        <p:nvPicPr>
          <p:cNvPr id="7" name="Picture 6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415D9329-8404-8FB6-440F-E9849300BAE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307"/>
          <a:stretch>
            <a:fillRect/>
          </a:stretch>
        </p:blipFill>
        <p:spPr>
          <a:xfrm rot="16200000">
            <a:off x="2766204" y="5165090"/>
            <a:ext cx="2052320" cy="1333500"/>
          </a:xfrm>
          <a:prstGeom prst="rect">
            <a:avLst/>
          </a:prstGeom>
        </p:spPr>
      </p:pic>
      <p:pic>
        <p:nvPicPr>
          <p:cNvPr id="10" name="Picture 9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583DC239-1B91-3F75-7E85-D0A752FB004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595299">
            <a:off x="1217794" y="4109349"/>
            <a:ext cx="2058669" cy="103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91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292A7410-B2FC-D132-8D8C-4AF1B507056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66" t="289" r="43489" b="8672"/>
          <a:stretch>
            <a:fillRect/>
          </a:stretch>
        </p:blipFill>
        <p:spPr>
          <a:xfrm>
            <a:off x="8120743" y="0"/>
            <a:ext cx="407125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15200" cy="109728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" y="1828800"/>
            <a:ext cx="7315199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99251" y="6126480"/>
            <a:ext cx="2073147" cy="365125"/>
          </a:xfrm>
        </p:spPr>
        <p:txBody>
          <a:bodyPr/>
          <a:lstStyle/>
          <a:p>
            <a:fld id="{5A7A0291-FBD7-2345-9C81-5FC586A6DB9E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0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D6C8C-4A02-004B-93D7-C0DBD4026299}" type="datetime1">
              <a:rPr lang="en-US" smtClean="0"/>
              <a:t>6/7/2026</a:t>
            </a:fld>
            <a:endParaRPr lang="en-US"/>
          </a:p>
        </p:txBody>
      </p:sp>
      <p:pic>
        <p:nvPicPr>
          <p:cNvPr id="7" name="Picture 6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DE136570-804C-5DD0-226A-419BDFE8968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479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DBE0D0-60D9-A8DD-819A-4EC6098596AA}"/>
              </a:ext>
            </a:extLst>
          </p:cNvPr>
          <p:cNvSpPr/>
          <p:nvPr/>
        </p:nvSpPr>
        <p:spPr>
          <a:xfrm>
            <a:off x="0" y="-1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A90C2D-E9F9-B5AC-3789-289AA8EF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327" y="642192"/>
            <a:ext cx="3172968" cy="2139696"/>
          </a:xfrm>
        </p:spPr>
        <p:txBody>
          <a:bodyPr anchor="b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7216147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66327" y="3011335"/>
            <a:ext cx="316253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06C8A42-D773-E384-D003-FF92C7D3D7C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573862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662C323-6B9B-80DF-EF74-D99250EE92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971459" y="6126480"/>
            <a:ext cx="1934123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B6DB1-F652-6E69-77F4-F055AD2AF6F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92496" y="6126480"/>
            <a:ext cx="965564" cy="365125"/>
          </a:xfrm>
        </p:spPr>
        <p:txBody>
          <a:bodyPr/>
          <a:lstStyle/>
          <a:p>
            <a:fld id="{954F3EE5-5A62-1142-B29B-2D79B0DFBB49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6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F29CE5-A8CD-ED9A-7F5A-693443689EAB}"/>
              </a:ext>
            </a:extLst>
          </p:cNvPr>
          <p:cNvSpPr/>
          <p:nvPr/>
        </p:nvSpPr>
        <p:spPr>
          <a:xfrm>
            <a:off x="4145280" y="-1"/>
            <a:ext cx="804672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2F1C8EF-0052-4E1D-ADC9-E3E4FD32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55" y="642192"/>
            <a:ext cx="3274169" cy="2139696"/>
          </a:xfrm>
        </p:spPr>
        <p:txBody>
          <a:bodyPr anchor="b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011335"/>
            <a:ext cx="3274169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33EBD6B-DFDB-0D0B-252B-324DA354BF4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97FC8F1-C8AE-5332-F165-13ED9003CB9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1895486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DB703-6F6B-3A91-C03F-5AA8FECF96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4563" y="6126480"/>
            <a:ext cx="1033988" cy="365125"/>
          </a:xfrm>
        </p:spPr>
        <p:txBody>
          <a:bodyPr/>
          <a:lstStyle/>
          <a:p>
            <a:fld id="{72C7549D-B911-DC4D-9096-0244F27A5122}" type="datetime1">
              <a:rPr lang="en-US" smtClean="0"/>
              <a:t>6/7/2026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0" y="457200"/>
            <a:ext cx="7216147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062665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3AE976-70C1-E011-D1BD-A186B254606F}"/>
              </a:ext>
            </a:extLst>
          </p:cNvPr>
          <p:cNvSpPr/>
          <p:nvPr/>
        </p:nvSpPr>
        <p:spPr>
          <a:xfrm>
            <a:off x="0" y="-1"/>
            <a:ext cx="12192000" cy="42062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0688BC7-C8A7-1B9D-DD5A-CC721C82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63440"/>
            <a:ext cx="4206240" cy="1124712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4552" cy="3261360"/>
          </a:xfrm>
          <a:blipFill dpi="0" rotWithShape="1">
            <a:blip r:embed="rId2">
              <a:alphaModFix amt="60000"/>
            </a:blip>
            <a:srcRect/>
            <a:stretch>
              <a:fillRect t="1" b="-89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4663440"/>
            <a:ext cx="6426391" cy="12415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099B38A-E62D-AD07-98E2-F076BBB690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3C33DF7-70E3-8959-4BBB-88BA646FC8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C6559B-3088-D543-8627-C631D5D845A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E3B3F6E-3994-0241-BCBC-BC1EBD257F6E}" type="datetime1">
              <a:rPr lang="en-US" smtClean="0"/>
              <a:t>6/7/2026</a:t>
            </a:fld>
            <a:endParaRPr lang="en-US"/>
          </a:p>
        </p:txBody>
      </p:sp>
      <p:pic>
        <p:nvPicPr>
          <p:cNvPr id="3" name="Picture 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B68BD559-5C7D-BCAB-EDFF-9A833E2B58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6400800" y="6144768"/>
            <a:ext cx="2330721" cy="717107"/>
          </a:xfrm>
          <a:prstGeom prst="rect">
            <a:avLst/>
          </a:prstGeom>
        </p:spPr>
      </p:pic>
      <p:pic>
        <p:nvPicPr>
          <p:cNvPr id="5" name="Picture 4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351BF7C7-47D5-CE17-B30C-3114D6A147B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148" b="-8356"/>
          <a:stretch>
            <a:fillRect/>
          </a:stretch>
        </p:blipFill>
        <p:spPr>
          <a:xfrm rot="16200000" flipV="1">
            <a:off x="3316541" y="5909308"/>
            <a:ext cx="609599" cy="128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988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F14464-19AB-7D13-BD0E-2F857D32DD8F}"/>
              </a:ext>
            </a:extLst>
          </p:cNvPr>
          <p:cNvSpPr/>
          <p:nvPr/>
        </p:nvSpPr>
        <p:spPr>
          <a:xfrm>
            <a:off x="0" y="-1"/>
            <a:ext cx="749808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CE19939-7641-D440-ED1C-43937E2E5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168" y="457200"/>
            <a:ext cx="3895344" cy="1664208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6572925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63168" y="2315569"/>
            <a:ext cx="3894892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9D974-688E-6389-B676-3716A5DCE5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874608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11A75-2855-5D82-EF5E-AC8CBFD270F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72204" y="6126480"/>
            <a:ext cx="219456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B728D-FE97-BBB3-3103-FB1096F0417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44766" y="6126480"/>
            <a:ext cx="1313294" cy="365125"/>
          </a:xfrm>
        </p:spPr>
        <p:txBody>
          <a:bodyPr/>
          <a:lstStyle/>
          <a:p>
            <a:fld id="{CEBAFC1B-AD29-C14A-91E0-0745420D0140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097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497F40-707E-796F-73DC-2241DB51A1A9}"/>
              </a:ext>
            </a:extLst>
          </p:cNvPr>
          <p:cNvSpPr/>
          <p:nvPr/>
        </p:nvSpPr>
        <p:spPr>
          <a:xfrm>
            <a:off x="4693920" y="-1"/>
            <a:ext cx="749808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7A1B64-CA7C-74CC-8184-E144FC10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40480" cy="1664208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2315569"/>
            <a:ext cx="384048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CCC24-AAEE-1EBE-5C8A-D731F7EDF25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C2662-2578-560F-F095-F1A11F44A08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23774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E15DD-1F7C-8AB3-8EFB-E573908E03A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218354" y="6126480"/>
            <a:ext cx="1079325" cy="365125"/>
          </a:xfrm>
        </p:spPr>
        <p:txBody>
          <a:bodyPr/>
          <a:lstStyle/>
          <a:p>
            <a:fld id="{BCA30940-2954-AA4F-9BFF-1013B5D668D8}" type="datetime1">
              <a:rPr lang="en-US" smtClean="0"/>
              <a:t>6/7/2026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156498" y="457200"/>
            <a:ext cx="6572925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131765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65BFA-D1C6-FAD3-7B5D-029C855B189E}"/>
              </a:ext>
            </a:extLst>
          </p:cNvPr>
          <p:cNvSpPr/>
          <p:nvPr/>
        </p:nvSpPr>
        <p:spPr>
          <a:xfrm>
            <a:off x="0" y="-1"/>
            <a:ext cx="65379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499533"/>
            <a:ext cx="4754880" cy="132893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5626608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10400" y="1975104"/>
            <a:ext cx="4754880" cy="3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8BE5B76-563B-3E92-FB3E-1D2C9717E8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10400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D520868-4C6A-1C68-6ECA-7B1457F096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07996" y="6126480"/>
            <a:ext cx="28346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F3A40-40CC-8BCE-4C26-6B49E64D60B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90220" y="6126480"/>
            <a:ext cx="1467840" cy="365125"/>
          </a:xfrm>
        </p:spPr>
        <p:txBody>
          <a:bodyPr/>
          <a:lstStyle/>
          <a:p>
            <a:fld id="{5A0B49E7-1C5B-AD4A-B8C0-4550FE0A0235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034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98AE30-B0EC-6508-4AB4-7253892A47C9}"/>
              </a:ext>
            </a:extLst>
          </p:cNvPr>
          <p:cNvSpPr/>
          <p:nvPr/>
        </p:nvSpPr>
        <p:spPr>
          <a:xfrm>
            <a:off x="5516880" y="-1"/>
            <a:ext cx="667512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593619" cy="128816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920240"/>
            <a:ext cx="459349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9C4D3-7A66-D54C-679E-5F2210D54F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2DF43-22E2-E52D-1677-E2ECB5B988C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32004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CC0E3-6C08-1723-74E8-C1EF05EFFE0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041314" y="6126480"/>
            <a:ext cx="1009377" cy="365125"/>
          </a:xfrm>
        </p:spPr>
        <p:txBody>
          <a:bodyPr/>
          <a:lstStyle/>
          <a:p>
            <a:fld id="{948C343A-B82F-4143-9348-1F135B2BF1BF}" type="datetime1">
              <a:rPr lang="en-US" smtClean="0"/>
              <a:t>6/7/2026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35040" y="457200"/>
            <a:ext cx="5661996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2145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4E9926E-1454-088A-DAEE-81D8FCE1A622}"/>
              </a:ext>
            </a:extLst>
          </p:cNvPr>
          <p:cNvSpPr/>
          <p:nvPr/>
        </p:nvSpPr>
        <p:spPr>
          <a:xfrm>
            <a:off x="0" y="-1"/>
            <a:ext cx="12192000" cy="3429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80757"/>
            <a:ext cx="3044954" cy="20116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3508" y="457200"/>
            <a:ext cx="11274552" cy="2528633"/>
          </a:xfrm>
          <a:blipFill dpi="0" rotWithShape="1">
            <a:blip r:embed="rId2">
              <a:alphaModFix amt="60000"/>
            </a:blip>
            <a:srcRect/>
            <a:stretch>
              <a:fillRect t="1" r="-233" b="-175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79669" y="3880758"/>
            <a:ext cx="7900851" cy="2011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A1C8-408E-D74D-B08B-E4740ED27994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21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5840"/>
            <a:ext cx="3021873" cy="129763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AA3CE2-FA19-A0C1-5803-D6CB70AE52C4}"/>
              </a:ext>
            </a:extLst>
          </p:cNvPr>
          <p:cNvSpPr/>
          <p:nvPr/>
        </p:nvSpPr>
        <p:spPr>
          <a:xfrm>
            <a:off x="0" y="3636524"/>
            <a:ext cx="12192000" cy="322147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6F2C2E6-D9FF-7960-30D4-3996CAF0E7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11480" y="27432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16CECD4-053E-15EE-496E-9BA230A307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274320"/>
            <a:ext cx="3724286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77D76-068A-6817-DE61-41E5920B1A5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839459" y="274320"/>
            <a:ext cx="1918601" cy="365125"/>
          </a:xfrm>
        </p:spPr>
        <p:txBody>
          <a:bodyPr/>
          <a:lstStyle/>
          <a:p>
            <a:fld id="{74C1E1D0-99FC-0441-BDC2-0A5DDB99B607}" type="datetime1">
              <a:rPr lang="en-US" smtClean="0"/>
              <a:t>6/7/2026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53543" y="1005840"/>
            <a:ext cx="7904517" cy="2194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4004" y="4128448"/>
            <a:ext cx="11274056" cy="2285305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l="2" t="227" r="-270" b="-952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583004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049D46-A039-8FE9-795E-B9A09588FB81}"/>
              </a:ext>
            </a:extLst>
          </p:cNvPr>
          <p:cNvSpPr/>
          <p:nvPr/>
        </p:nvSpPr>
        <p:spPr>
          <a:xfrm>
            <a:off x="0" y="-1"/>
            <a:ext cx="4886325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751" y="514175"/>
            <a:ext cx="6400800" cy="131502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3952393" cy="59436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3108" y="1978488"/>
            <a:ext cx="6400800" cy="3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3CD20-9BC1-4411-A4E2-3B37C24049B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312105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5AD34-905D-5BB9-666C-2F8C95D63B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09702" y="6126480"/>
            <a:ext cx="3975211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4FBA4-81B9-2387-9280-85A1A169CC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D2F5157-4209-D142-B123-F174FB18FA7D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617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B5BA68-BEB6-20D9-ED99-49AE2037C723}"/>
              </a:ext>
            </a:extLst>
          </p:cNvPr>
          <p:cNvSpPr/>
          <p:nvPr/>
        </p:nvSpPr>
        <p:spPr>
          <a:xfrm>
            <a:off x="7305675" y="-1"/>
            <a:ext cx="4886325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428962" cy="114300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1737360"/>
            <a:ext cx="6428963" cy="422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48AAF-8DE6-EAE0-C3BC-3EF1475AC6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12C07-7A5F-BEB6-7A29-9DAB0CF47A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BBFD0-0424-7C4B-20AF-00D4497D7F3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539443" y="6126480"/>
            <a:ext cx="2346720" cy="365125"/>
          </a:xfrm>
        </p:spPr>
        <p:txBody>
          <a:bodyPr/>
          <a:lstStyle/>
          <a:p>
            <a:fld id="{D4039460-34D4-104F-A87D-31820CDD6266}" type="datetime1">
              <a:rPr lang="en-US" smtClean="0"/>
              <a:t>6/7/2026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769731" y="457200"/>
            <a:ext cx="3958213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764240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32688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" y="1737360"/>
            <a:ext cx="4812154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BFCA8-9BD5-0D66-6653-7B45B382C4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02138-E28D-3ED2-F911-171BA61DEE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310896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15DE3-263F-5B56-80FE-04252DA7AFC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949874" y="6126480"/>
            <a:ext cx="1273760" cy="365125"/>
          </a:xfrm>
        </p:spPr>
        <p:txBody>
          <a:bodyPr/>
          <a:lstStyle/>
          <a:p>
            <a:fld id="{1134199F-B77C-624E-8596-34C330D06B24}" type="datetime1">
              <a:rPr lang="en-US" smtClean="0"/>
              <a:t>6/7/2026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658927" y="1737360"/>
            <a:ext cx="6533071" cy="512064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t="-4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151299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6589777" cy="932688"/>
          </a:xfrm>
        </p:spPr>
        <p:txBody>
          <a:bodyPr anchor="t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737360"/>
            <a:ext cx="4929188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9759" y="1737360"/>
            <a:ext cx="5741992" cy="4207696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9E5AF-145E-4F1A-BB20-9409893575A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38992-9744-9F81-E393-2C3F1988DB6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553C8-D720-0A9C-1422-FB597AA90E6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6D95950-DF64-8142-88A4-F8F59685720D}" type="datetime1">
              <a:rPr lang="en-US" smtClean="0"/>
              <a:t>6/7/2026</a:t>
            </a:fld>
            <a:endParaRPr lang="en-US"/>
          </a:p>
        </p:txBody>
      </p:sp>
      <p:pic>
        <p:nvPicPr>
          <p:cNvPr id="9" name="Picture 8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515AFBE3-40C6-81D7-9428-700F64A385D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0544" y="-10989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034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9857233" cy="932688"/>
          </a:xfrm>
        </p:spPr>
        <p:txBody>
          <a:bodyPr anchor="t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737361"/>
            <a:ext cx="6533071" cy="512064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b="-4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3255" y="1737360"/>
            <a:ext cx="4663440" cy="4297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937D0-8E8C-36F0-C09F-3935C5F5A1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98034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A5FE1-47F3-1838-9838-5F3981F5C02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95631" y="6126480"/>
            <a:ext cx="2818801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FADA45-5086-049B-5151-875044D0EB2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314432" y="6126480"/>
            <a:ext cx="1443628" cy="365125"/>
          </a:xfrm>
        </p:spPr>
        <p:txBody>
          <a:bodyPr/>
          <a:lstStyle/>
          <a:p>
            <a:fld id="{05030E4E-627B-D64F-876E-5B4D0895463B}" type="datetime1">
              <a:rPr lang="en-US" smtClean="0"/>
              <a:t>6/7/2026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749E5-FB47-A780-BB70-15427C5C9C7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924" r="48863"/>
          <a:stretch>
            <a:fillRect/>
          </a:stretch>
        </p:blipFill>
        <p:spPr>
          <a:xfrm>
            <a:off x="10841171" y="-1694"/>
            <a:ext cx="1350829" cy="707766"/>
          </a:xfrm>
          <a:prstGeom prst="rect">
            <a:avLst/>
          </a:prstGeom>
        </p:spPr>
      </p:pic>
      <p:pic>
        <p:nvPicPr>
          <p:cNvPr id="7" name="Picture 6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CC4A5946-E946-3908-F594-36D825BAA61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753" b="-3752"/>
          <a:stretch>
            <a:fillRect/>
          </a:stretch>
        </p:blipFill>
        <p:spPr>
          <a:xfrm rot="16200000" flipH="1">
            <a:off x="10305612" y="-161869"/>
            <a:ext cx="611235" cy="93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014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976" y="457200"/>
            <a:ext cx="7315200" cy="100584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06976" y="1554480"/>
            <a:ext cx="731520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CCFB6-66BF-D5A2-4EF3-833708DF04F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06976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BAED9-FD69-CDB3-CE31-233F9E999A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04572" y="6126480"/>
            <a:ext cx="36576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C4576-1D70-8D69-935F-F5841843BF2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EB7EF76-FB1E-EA44-B271-29D75F3FBB25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526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15200" cy="91440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54480"/>
            <a:ext cx="731520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31AD-BC5C-0681-77D2-AA2DD3FACC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CFFF4-D46A-BAF9-7B12-CCCCD9D4B9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3D3FC-835B-4DD5-6FB4-1C61B80E1E7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782614" y="6126480"/>
            <a:ext cx="1989786" cy="365125"/>
          </a:xfrm>
        </p:spPr>
        <p:txBody>
          <a:bodyPr/>
          <a:lstStyle/>
          <a:p>
            <a:fld id="{45042452-74AC-7E41-8CDA-7073C00E876C}" type="datetime1">
              <a:rPr lang="en-US" smtClean="0"/>
              <a:t>6/7/2026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74182" y="0"/>
            <a:ext cx="4017817" cy="6858000"/>
          </a:xfrm>
          <a:blipFill dpi="0" rotWithShape="1">
            <a:blip r:embed="rId2">
              <a:alphaModFix amt="60000"/>
            </a:blip>
            <a:srcRect/>
            <a:stretch>
              <a:fillRect l="-205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397948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564763" cy="1269482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1968816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00688" y="457200"/>
            <a:ext cx="6217920" cy="54752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6359-BBC3-9E40-B171-C99E9F4933E9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489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540760" cy="131634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089842"/>
            <a:ext cx="3540760" cy="385375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59" y="457200"/>
            <a:ext cx="7254239" cy="5669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EBE4-268E-1643-A712-CC93702C9C05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022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31070" y="457200"/>
            <a:ext cx="8129861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E66D84-D695-C745-96DB-748C5AC7D514}" type="datetime1">
              <a:rPr lang="en-US" smtClean="0"/>
              <a:t>6/7/2026</a:t>
            </a:fld>
            <a:endParaRPr lang="en-US"/>
          </a:p>
        </p:txBody>
      </p:sp>
      <p:pic>
        <p:nvPicPr>
          <p:cNvPr id="8" name="Picture 7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7937E1ED-1028-57A9-8653-199F587CAA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056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52" y="4892040"/>
            <a:ext cx="9762068" cy="106070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38400" y="457200"/>
            <a:ext cx="7315200" cy="4535424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814E37-7324-6845-87AB-412490586DE2}" type="datetime1">
              <a:rPr lang="en-US" smtClean="0">
                <a:solidFill>
                  <a:schemeClr val="tx2"/>
                </a:solidFill>
              </a:rPr>
              <a:t>6/7/2026</a:t>
            </a:fld>
            <a:endParaRPr lang="en-US">
              <a:solidFill>
                <a:schemeClr val="tx2"/>
              </a:solidFill>
            </a:endParaRPr>
          </a:p>
        </p:txBody>
      </p:sp>
      <p:pic>
        <p:nvPicPr>
          <p:cNvPr id="8" name="Picture 7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0880C214-5B6A-CB20-C2B7-43282B9B19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1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leaves in a circle&#10;&#10;AI-generated content may be incorrect.">
            <a:extLst>
              <a:ext uri="{FF2B5EF4-FFF2-40B4-BE49-F238E27FC236}">
                <a16:creationId xmlns:a16="http://schemas.microsoft.com/office/drawing/2014/main" id="{BF0F0DCE-304C-EF8B-B97E-382148327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8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4397696"/>
            <a:ext cx="5486400" cy="1463040"/>
          </a:xfrm>
        </p:spPr>
        <p:txBody>
          <a:bodyPr anchor="t" anchorCtr="0">
            <a:normAutofit/>
          </a:bodyPr>
          <a:lstStyle>
            <a:lvl1pPr algn="ctr">
              <a:lnSpc>
                <a:spcPct val="11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74069" y="1171579"/>
            <a:ext cx="8043862" cy="356616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5000" b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425823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52600" y="365760"/>
            <a:ext cx="8686800" cy="5486400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 algn="ctr">
              <a:lnSpc>
                <a:spcPct val="80000"/>
              </a:lnSpc>
              <a:buNone/>
              <a:defRPr sz="60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 algn="ctr">
              <a:lnSpc>
                <a:spcPct val="80000"/>
              </a:lnSpc>
              <a:buNone/>
              <a:defRPr sz="54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 algn="ctr">
              <a:lnSpc>
                <a:spcPct val="80000"/>
              </a:lnSpc>
              <a:buNone/>
              <a:defRPr sz="48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 algn="ctr">
              <a:lnSpc>
                <a:spcPct val="80000"/>
              </a:lnSpc>
              <a:buNone/>
              <a:defRPr sz="44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944B1-A93B-F147-9A5A-D2620572B4B1}" type="datetime1">
              <a:rPr lang="en-US" smtClean="0"/>
              <a:t>6/7/2026</a:t>
            </a:fld>
            <a:endParaRPr lang="en-US"/>
          </a:p>
        </p:txBody>
      </p:sp>
      <p:pic>
        <p:nvPicPr>
          <p:cNvPr id="10" name="Picture 9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296154C5-7B40-49CB-E343-73980D8C709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4540" y="3003334"/>
            <a:ext cx="4160520" cy="914400"/>
          </a:xfrm>
          <a:prstGeom prst="rect">
            <a:avLst/>
          </a:prstGeom>
        </p:spPr>
      </p:pic>
      <p:pic>
        <p:nvPicPr>
          <p:cNvPr id="12" name="Picture 11" descr="A blue leafy plant&#10;&#10;AI-generated content may be incorrect.">
            <a:extLst>
              <a:ext uri="{FF2B5EF4-FFF2-40B4-BE49-F238E27FC236}">
                <a16:creationId xmlns:a16="http://schemas.microsoft.com/office/drawing/2014/main" id="{C5608801-CE38-1990-EC36-5F382F3AC33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73"/>
          <a:stretch>
            <a:fillRect/>
          </a:stretch>
        </p:blipFill>
        <p:spPr>
          <a:xfrm>
            <a:off x="0" y="157646"/>
            <a:ext cx="1757091" cy="1460378"/>
          </a:xfrm>
          <a:prstGeom prst="rect">
            <a:avLst/>
          </a:prstGeom>
        </p:spPr>
      </p:pic>
      <p:pic>
        <p:nvPicPr>
          <p:cNvPr id="13" name="Picture 1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497485C4-99A6-761F-6BC9-2157F7BE1A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-1163538" y="2885078"/>
            <a:ext cx="3361254" cy="103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851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FF848890-CE01-9C1B-6EF2-542D922D1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703130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15024" y="1040528"/>
            <a:ext cx="5843035" cy="457200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80000"/>
              </a:lnSpc>
              <a:buNone/>
              <a:defRPr sz="48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>
              <a:lnSpc>
                <a:spcPct val="80000"/>
              </a:lnSpc>
              <a:buNone/>
              <a:defRPr sz="44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>
              <a:lnSpc>
                <a:spcPct val="80000"/>
              </a:lnSpc>
              <a:buNone/>
              <a:defRPr sz="40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>
              <a:lnSpc>
                <a:spcPct val="80000"/>
              </a:lnSpc>
              <a:buNone/>
              <a:defRPr sz="36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>
              <a:lnSpc>
                <a:spcPct val="80000"/>
              </a:lnSpc>
              <a:buNone/>
              <a:defRPr sz="32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6113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60B913-2D3E-D2F1-2DC5-E8D1EB38E455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2960" y="1280160"/>
            <a:ext cx="10515600" cy="41148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1C0D-A5B5-3D43-825A-85FAF7F7BC22}" type="datetime1">
              <a:rPr lang="en-US" smtClean="0"/>
              <a:t>6/7/2026</a:t>
            </a:fld>
            <a:endParaRPr lang="en-US"/>
          </a:p>
        </p:txBody>
      </p:sp>
      <p:pic>
        <p:nvPicPr>
          <p:cNvPr id="9" name="Picture 8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1CCED1F3-3CEB-D840-3519-74AC605E8DC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0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230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D25D851B-A4D3-5C99-951A-68207FA26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693" y="0"/>
            <a:ext cx="703130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195516"/>
            <a:ext cx="5760720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5760720" cy="4579422"/>
          </a:xfrm>
        </p:spPr>
        <p:txBody>
          <a:bodyPr anchor="ctr" anchorCtr="0">
            <a:normAutofit/>
          </a:bodyPr>
          <a:lstStyle>
            <a:lvl1pPr marL="0" indent="-164592">
              <a:lnSpc>
                <a:spcPct val="80000"/>
              </a:lnSpc>
              <a:spcBef>
                <a:spcPts val="0"/>
              </a:spcBef>
              <a:buNone/>
              <a:defRPr sz="4400" cap="all" spc="0" baseline="0"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3179664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9600" y="4941517"/>
            <a:ext cx="5588000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9600" y="1049867"/>
            <a:ext cx="5588000" cy="3657597"/>
          </a:xfrm>
        </p:spPr>
        <p:txBody>
          <a:bodyPr anchor="ctr" anchorCtr="0">
            <a:normAutofit/>
          </a:bodyPr>
          <a:lstStyle>
            <a:lvl1pPr marL="0" indent="-164592">
              <a:lnSpc>
                <a:spcPct val="80000"/>
              </a:lnSpc>
              <a:spcBef>
                <a:spcPts val="0"/>
              </a:spcBef>
              <a:buNone/>
              <a:defRPr sz="4800" cap="all" spc="0" baseline="0"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2D73AE9-869B-7BF3-50A5-234196163F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3FEB0EA-071D-4499-B42D-F2B8EA05084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B50E06B-939B-0AAF-0ECC-655004CFE6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7E73F5-CCA3-444E-8B15-361BEE3A4343}" type="datetime1">
              <a:rPr lang="en-US" smtClean="0"/>
              <a:t>6/7/2026</a:t>
            </a:fld>
            <a:endParaRPr lang="en-US"/>
          </a:p>
        </p:txBody>
      </p:sp>
      <p:pic>
        <p:nvPicPr>
          <p:cNvPr id="4" name="Picture 3" descr="A lemon on a branch&#10;&#10;AI-generated content may be incorrect.">
            <a:extLst>
              <a:ext uri="{FF2B5EF4-FFF2-40B4-BE49-F238E27FC236}">
                <a16:creationId xmlns:a16="http://schemas.microsoft.com/office/drawing/2014/main" id="{6C8943F9-BACC-FB6D-553E-E3ABEBDAF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77" y="935877"/>
            <a:ext cx="4131220" cy="464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339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9800" y="4955722"/>
            <a:ext cx="7772400" cy="66947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09800" y="1344168"/>
            <a:ext cx="7772400" cy="3291840"/>
          </a:xfrm>
        </p:spPr>
        <p:txBody>
          <a:bodyPr anchor="ctr">
            <a:normAutofit/>
          </a:bodyPr>
          <a:lstStyle>
            <a:lvl1pPr marL="0" indent="-164592" algn="ctr">
              <a:lnSpc>
                <a:spcPct val="80000"/>
              </a:lnSpc>
              <a:spcBef>
                <a:spcPts val="0"/>
              </a:spcBef>
              <a:buNone/>
              <a:defRPr sz="4000" cap="all" spc="0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pic>
        <p:nvPicPr>
          <p:cNvPr id="10" name="Picture 9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E1FAE426-B259-9B7E-DA6B-E052E1FCE6B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628"/>
          <a:stretch>
            <a:fillRect/>
          </a:stretch>
        </p:blipFill>
        <p:spPr>
          <a:xfrm flipH="1">
            <a:off x="1638457" y="-1"/>
            <a:ext cx="3509674" cy="1034177"/>
          </a:xfrm>
          <a:prstGeom prst="rect">
            <a:avLst/>
          </a:prstGeom>
        </p:spPr>
      </p:pic>
      <p:pic>
        <p:nvPicPr>
          <p:cNvPr id="11" name="Picture 10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0A0E2D79-EB43-8B87-7AC2-A0043A5E3F8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  <p:pic>
        <p:nvPicPr>
          <p:cNvPr id="12" name="Picture 11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7373C030-FF01-D4D1-E8D8-0EE4E6036E1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71959" y="780706"/>
            <a:ext cx="2020041" cy="14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043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lue leaves in a circle&#10;&#10;AI-generated content may be incorrect.">
            <a:extLst>
              <a:ext uri="{FF2B5EF4-FFF2-40B4-BE49-F238E27FC236}">
                <a16:creationId xmlns:a16="http://schemas.microsoft.com/office/drawing/2014/main" id="{E981F3B3-629F-D680-2DF2-E8D2A2A6B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8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2800" y="4782298"/>
            <a:ext cx="5486400" cy="66947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04160" y="1344168"/>
            <a:ext cx="6583680" cy="3291840"/>
          </a:xfrm>
        </p:spPr>
        <p:txBody>
          <a:bodyPr anchor="ctr">
            <a:normAutofit/>
          </a:bodyPr>
          <a:lstStyle>
            <a:lvl1pPr marL="0" indent="-164592" algn="ctr">
              <a:lnSpc>
                <a:spcPct val="80000"/>
              </a:lnSpc>
              <a:spcBef>
                <a:spcPts val="0"/>
              </a:spcBef>
              <a:buNone/>
              <a:defRPr sz="4000" cap="all" spc="0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33949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60374-D5A7-578F-94DF-B3AE40A63D76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60FC988-C014-CA7D-7F26-4EDC152955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9838" y="4553078"/>
            <a:ext cx="5638800" cy="788610"/>
          </a:xfrm>
        </p:spPr>
        <p:txBody>
          <a:bodyPr/>
          <a:lstStyle>
            <a:lvl1pPr>
              <a:lnSpc>
                <a:spcPct val="120000"/>
              </a:lnSpc>
              <a:defRPr sz="1800" spc="10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4BC7C1D-C941-64F4-959E-B9487BF4CD0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579837" y="1047879"/>
            <a:ext cx="8483601" cy="3371850"/>
          </a:xfrm>
        </p:spPr>
        <p:txBody>
          <a:bodyPr anchor="ctr"/>
          <a:lstStyle>
            <a:lvl1pPr indent="0">
              <a:lnSpc>
                <a:spcPct val="80000"/>
              </a:lnSpc>
              <a:buNone/>
              <a:defRPr sz="54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628BD-4B0C-2949-B92B-496E78197D17}" type="datetime1">
              <a:rPr lang="en-US" smtClean="0"/>
              <a:t>6/7/2026</a:t>
            </a:fld>
            <a:endParaRPr lang="en-US"/>
          </a:p>
        </p:txBody>
      </p:sp>
      <p:pic>
        <p:nvPicPr>
          <p:cNvPr id="9" name="Picture 8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AD9087A2-9DF4-E9FD-70DE-819B7480EA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68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2980446A-4C51-EF2C-7912-750EC880876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7315200" y="-1"/>
            <a:ext cx="3361254" cy="10341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034176"/>
            <a:ext cx="11300859" cy="138898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2651760"/>
            <a:ext cx="11300860" cy="27731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6E4B0-8B14-9B4C-A31A-5987B81B3FF3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185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C57870-6258-3787-62B9-78CC66A2B053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32720" cy="137160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651760"/>
            <a:ext cx="10332720" cy="27731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36A54-899C-E541-8E52-4AB7D9961575}" type="datetime1">
              <a:rPr lang="en-US" smtClean="0"/>
              <a:t>6/7/2026</a:t>
            </a:fld>
            <a:endParaRPr lang="en-US"/>
          </a:p>
        </p:txBody>
      </p:sp>
      <p:pic>
        <p:nvPicPr>
          <p:cNvPr id="7" name="Picture 6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DF688FE8-69D4-9BEF-4BAA-95000B6B06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4158274" y="5524901"/>
            <a:ext cx="6065596" cy="133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6345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5486400" cy="2514600"/>
          </a:xfrm>
        </p:spPr>
        <p:txBody>
          <a:bodyPr anchor="b" anchorCtr="0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82336"/>
            <a:ext cx="5486400" cy="231840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A97-A7C4-9F40-8A0A-FE5948AA7EAD}" type="datetime1">
              <a:rPr lang="en-US" smtClean="0"/>
              <a:t>6/7/2026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38A79B-2A35-A3D9-A7ED-DE7607A5B87F}"/>
              </a:ext>
            </a:extLst>
          </p:cNvPr>
          <p:cNvSpPr/>
          <p:nvPr/>
        </p:nvSpPr>
        <p:spPr>
          <a:xfrm>
            <a:off x="7383790" y="914400"/>
            <a:ext cx="4389990" cy="47548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lemon on a branch&#10;&#10;AI-generated content may be incorrect.">
            <a:extLst>
              <a:ext uri="{FF2B5EF4-FFF2-40B4-BE49-F238E27FC236}">
                <a16:creationId xmlns:a16="http://schemas.microsoft.com/office/drawing/2014/main" id="{BCAD1063-90DD-E1BB-B6C8-CF21479CD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114" y="553212"/>
            <a:ext cx="4911923" cy="552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637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5"/>
            <a:ext cx="53949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100" y="1825625"/>
            <a:ext cx="53949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CCE39-E894-AE4B-8297-21AAF0EFFD0A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85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85735"/>
            <a:ext cx="53949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387600"/>
            <a:ext cx="5394960" cy="365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3736" y="1685735"/>
            <a:ext cx="53949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100" y="2387600"/>
            <a:ext cx="5394960" cy="365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DF8A-0D91-364D-A077-5FA6DB0BF384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710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0C67-8BBF-6B4F-9B47-BDE666336AA6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1950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4A657-91FB-5045-886C-E8C9E2D0FBD3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432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297680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590800"/>
            <a:ext cx="4297680" cy="3291840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457200"/>
            <a:ext cx="6645812" cy="53949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EC984-B3DE-9046-AFE2-DCA5A31E4617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1241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5849492-8CEA-1782-4908-C537B7CD0034}"/>
              </a:ext>
            </a:extLst>
          </p:cNvPr>
          <p:cNvSpPr/>
          <p:nvPr/>
        </p:nvSpPr>
        <p:spPr>
          <a:xfrm>
            <a:off x="4659682" y="-1"/>
            <a:ext cx="7532318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788700" cy="176208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826137"/>
            <a:ext cx="3778112" cy="3017520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77" y="6126480"/>
            <a:ext cx="23774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86517" y="6126480"/>
            <a:ext cx="1039521" cy="365125"/>
          </a:xfrm>
        </p:spPr>
        <p:txBody>
          <a:bodyPr/>
          <a:lstStyle/>
          <a:p>
            <a:fld id="{0265947F-1BAF-0347-867A-BE413595A34D}" type="datetime1">
              <a:rPr lang="en-US" smtClean="0"/>
              <a:t>6/7/2026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5073465" y="457200"/>
            <a:ext cx="6704753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1936822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4DC52-CC44-D647-BBB1-762854F46572}" type="datetime1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40B778AE-8D30-EC43-B255-420E7914C179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98653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2180"/>
      </p:ext>
    </p:extLst>
  </p:cSld>
  <p:clrMapOvr>
    <a:masterClrMapping/>
  </p:clrMapOvr>
  <p:hf hdr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40385"/>
      </p:ext>
    </p:extLst>
  </p:cSld>
  <p:clrMapOvr>
    <a:masterClrMapping/>
  </p:clrMapOvr>
  <p:hf hdr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21067"/>
      </p:ext>
    </p:extLst>
  </p:cSld>
  <p:clrMapOvr>
    <a:masterClrMapping/>
  </p:clrMapOvr>
  <p:hf hdr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58222"/>
      </p:ext>
    </p:extLst>
  </p:cSld>
  <p:clrMapOvr>
    <a:masterClrMapping/>
  </p:clrMapOvr>
  <p:hf hdr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0C67-8BBF-6B4F-9B47-BDE666336AA6}" type="datetime1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7427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64340"/>
      </p:ext>
    </p:extLst>
  </p:cSld>
  <p:clrMapOvr>
    <a:masterClrMapping/>
  </p:clrMapOvr>
  <p:hf hdr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EC984-B3DE-9046-AFE2-DCA5A31E4617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4626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0265947F-1BAF-0347-867A-BE413595A34D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8344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21420"/>
      </p:ext>
    </p:extLst>
  </p:cSld>
  <p:clrMapOvr>
    <a:masterClrMapping/>
  </p:clrMapOvr>
  <p:hf hdr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47030"/>
      </p:ext>
    </p:extLst>
  </p:cSld>
  <p:clrMapOvr>
    <a:masterClrMapping/>
  </p:clrMapOvr>
  <p:hf hdr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12525"/>
      </p:ext>
    </p:extLst>
  </p:cSld>
  <p:clrMapOvr>
    <a:masterClrMapping/>
  </p:clrMapOvr>
  <p:hf hdr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666335"/>
      </p:ext>
    </p:extLst>
  </p:cSld>
  <p:clrMapOvr>
    <a:masterClrMapping/>
  </p:clrMapOvr>
  <p:hf hdr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12241"/>
      </p:ext>
    </p:extLst>
  </p:cSld>
  <p:clrMapOvr>
    <a:masterClrMapping/>
  </p:clrMapOvr>
  <p:hf hdr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794458"/>
      </p:ext>
    </p:extLst>
  </p:cSld>
  <p:clrMapOvr>
    <a:masterClrMapping/>
  </p:clrMapOvr>
  <p:hf hdr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57275"/>
      </p:ext>
    </p:extLst>
  </p:cSld>
  <p:clrMapOvr>
    <a:masterClrMapping/>
  </p:clrMapOvr>
  <p:hf hdr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261892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69C9E-5EF9-BB75-4627-4DC5CC69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65125"/>
            <a:ext cx="113465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82400-D5E7-A68D-169F-2E18AE06F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80" y="1825625"/>
            <a:ext cx="1134658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FF041-44CD-B171-7760-9BD4A44AF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480" y="6126480"/>
            <a:ext cx="36576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78213-F4F4-5A28-3082-988326546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9077" y="6126480"/>
            <a:ext cx="3698529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940C-5E99-C9E6-92A2-229FA878B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84913" y="6126480"/>
            <a:ext cx="20731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11" name="Freeform 10" hidden="1">
            <a:extLst>
              <a:ext uri="{FF2B5EF4-FFF2-40B4-BE49-F238E27FC236}">
                <a16:creationId xmlns:a16="http://schemas.microsoft.com/office/drawing/2014/main" id="{AD19C17A-2059-B291-5686-A6EE57749B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457200 w 12192000"/>
              <a:gd name="csY0" fmla="*/ 457200 h 6858000"/>
              <a:gd name="csX1" fmla="*/ 457200 w 12192000"/>
              <a:gd name="csY1" fmla="*/ 6400800 h 6858000"/>
              <a:gd name="csX2" fmla="*/ 11734800 w 12192000"/>
              <a:gd name="csY2" fmla="*/ 6400800 h 6858000"/>
              <a:gd name="csX3" fmla="*/ 11734800 w 12192000"/>
              <a:gd name="csY3" fmla="*/ 457200 h 6858000"/>
              <a:gd name="csX4" fmla="*/ 0 w 12192000"/>
              <a:gd name="csY4" fmla="*/ 0 h 6858000"/>
              <a:gd name="csX5" fmla="*/ 457200 w 12192000"/>
              <a:gd name="csY5" fmla="*/ 0 h 6858000"/>
              <a:gd name="csX6" fmla="*/ 457200 w 12192000"/>
              <a:gd name="csY6" fmla="*/ 0 h 6858000"/>
              <a:gd name="csX7" fmla="*/ 12190476 w 12192000"/>
              <a:gd name="csY7" fmla="*/ 0 h 6858000"/>
              <a:gd name="csX8" fmla="*/ 12190476 w 12192000"/>
              <a:gd name="csY8" fmla="*/ 0 h 6858000"/>
              <a:gd name="csX9" fmla="*/ 12192000 w 12192000"/>
              <a:gd name="csY9" fmla="*/ 0 h 6858000"/>
              <a:gd name="csX10" fmla="*/ 12192000 w 12192000"/>
              <a:gd name="csY10" fmla="*/ 6858000 h 6858000"/>
              <a:gd name="csX11" fmla="*/ 12190476 w 12192000"/>
              <a:gd name="csY11" fmla="*/ 6858000 h 6858000"/>
              <a:gd name="csX12" fmla="*/ 11734800 w 12192000"/>
              <a:gd name="csY12" fmla="*/ 6858000 h 6858000"/>
              <a:gd name="csX13" fmla="*/ 457200 w 12192000"/>
              <a:gd name="csY13" fmla="*/ 6858000 h 6858000"/>
              <a:gd name="csX14" fmla="*/ 1525 w 12192000"/>
              <a:gd name="csY14" fmla="*/ 6858000 h 6858000"/>
              <a:gd name="csX15" fmla="*/ 0 w 12192000"/>
              <a:gd name="csY15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192000" h="6858000">
                <a:moveTo>
                  <a:pt x="457200" y="457200"/>
                </a:moveTo>
                <a:lnTo>
                  <a:pt x="457200" y="6400800"/>
                </a:lnTo>
                <a:lnTo>
                  <a:pt x="11734800" y="6400800"/>
                </a:lnTo>
                <a:lnTo>
                  <a:pt x="11734800" y="457200"/>
                </a:lnTo>
                <a:close/>
                <a:moveTo>
                  <a:pt x="0" y="0"/>
                </a:moveTo>
                <a:lnTo>
                  <a:pt x="457200" y="0"/>
                </a:lnTo>
                <a:lnTo>
                  <a:pt x="457200" y="0"/>
                </a:lnTo>
                <a:lnTo>
                  <a:pt x="12190476" y="0"/>
                </a:lnTo>
                <a:lnTo>
                  <a:pt x="12190476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0476" y="6858000"/>
                </a:lnTo>
                <a:lnTo>
                  <a:pt x="11734800" y="6858000"/>
                </a:lnTo>
                <a:lnTo>
                  <a:pt x="457200" y="6858000"/>
                </a:lnTo>
                <a:lnTo>
                  <a:pt x="1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7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  <p:sldLayoutId id="2147483772" r:id="rId28"/>
    <p:sldLayoutId id="2147483773" r:id="rId29"/>
    <p:sldLayoutId id="2147483774" r:id="rId30"/>
    <p:sldLayoutId id="2147483775" r:id="rId31"/>
    <p:sldLayoutId id="2147483776" r:id="rId32"/>
    <p:sldLayoutId id="2147483777" r:id="rId33"/>
    <p:sldLayoutId id="2147483778" r:id="rId34"/>
    <p:sldLayoutId id="2147483779" r:id="rId35"/>
    <p:sldLayoutId id="2147483780" r:id="rId36"/>
    <p:sldLayoutId id="2147483781" r:id="rId37"/>
    <p:sldLayoutId id="2147483782" r:id="rId38"/>
    <p:sldLayoutId id="2147483783" r:id="rId39"/>
    <p:sldLayoutId id="2147483784" r:id="rId40"/>
    <p:sldLayoutId id="2147483785" r:id="rId41"/>
    <p:sldLayoutId id="2147483786" r:id="rId42"/>
    <p:sldLayoutId id="2147483787" r:id="rId43"/>
    <p:sldLayoutId id="2147483788" r:id="rId44"/>
    <p:sldLayoutId id="2147483789" r:id="rId45"/>
    <p:sldLayoutId id="2147483790" r:id="rId46"/>
    <p:sldLayoutId id="2147483791" r:id="rId47"/>
    <p:sldLayoutId id="2147483792" r:id="rId48"/>
    <p:sldLayoutId id="2147483793" r:id="rId49"/>
    <p:sldLayoutId id="2147483794" r:id="rId50"/>
    <p:sldLayoutId id="2147483795" r:id="rId51"/>
    <p:sldLayoutId id="2147483796" r:id="rId52"/>
    <p:sldLayoutId id="2147483797" r:id="rId53"/>
    <p:sldLayoutId id="2147483798" r:id="rId54"/>
    <p:sldLayoutId id="2147483799" r:id="rId55"/>
    <p:sldLayoutId id="2147483800" r:id="rId56"/>
    <p:sldLayoutId id="2147483801" r:id="rId57"/>
    <p:sldLayoutId id="2147483802" r:id="rId58"/>
    <p:sldLayoutId id="2147483803" r:id="rId5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200" baseline="0">
          <a:solidFill>
            <a:schemeClr val="tx1"/>
          </a:solidFill>
          <a:latin typeface="+mj-lt"/>
          <a:ea typeface="+mj-ea"/>
          <a:cs typeface="Urdu Typesetting" panose="03020402040406030203" pitchFamily="66" charset="-78"/>
        </a:defRPr>
      </a:lvl1pPr>
    </p:titleStyle>
    <p:bodyStyle>
      <a:lvl1pPr marL="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3pPr>
      <a:lvl4pPr marL="804672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4pPr>
      <a:lvl5pPr marL="1024128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122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98190-6C6B-103B-6784-A34365AB5A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Visualizing e-commerce dynamics</a:t>
            </a:r>
            <a:br>
              <a:rPr lang="en-US" dirty="0"/>
            </a:br>
            <a:br>
              <a:rPr lang="en-US" dirty="0"/>
            </a:br>
            <a:r>
              <a:rPr lang="en-US" sz="1600" i="1" dirty="0"/>
              <a:t>exploratory data analysis</a:t>
            </a:r>
            <a:endParaRPr lang="en-US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3E1E8-4588-F79E-3132-D90D12E27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4629150"/>
            <a:ext cx="8676222" cy="1162050"/>
          </a:xfrm>
        </p:spPr>
        <p:txBody>
          <a:bodyPr>
            <a:normAutofit/>
          </a:bodyPr>
          <a:lstStyle/>
          <a:p>
            <a:r>
              <a:rPr lang="en-US" dirty="0"/>
              <a:t>Prepared by iroha Ifeanyi</a:t>
            </a:r>
          </a:p>
          <a:p>
            <a:r>
              <a:rPr lang="en-US" dirty="0"/>
              <a:t>Organization: </a:t>
            </a:r>
            <a:r>
              <a:rPr lang="en-US" dirty="0" err="1"/>
              <a:t>decodelabs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B2BDA-165B-093D-2C99-A79E149D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28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0D0C0-C75C-89CA-8E7C-BF264AF7D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990600"/>
          </a:xfrm>
        </p:spPr>
        <p:txBody>
          <a:bodyPr/>
          <a:lstStyle/>
          <a:p>
            <a:r>
              <a:rPr lang="en-US" dirty="0"/>
              <a:t>CORE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AC0EE-C84B-3B34-0CAF-1500639F1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00251"/>
            <a:ext cx="9905998" cy="37909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BEFORE modeling or deep predictive analytics, we must understand the pulse of our retail operations.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This VISUAL exploratory analysis uncovers hidden patterns in customer behavior, PRODUCT PERFORMANCE, SALES TRENDS,MARKETING EFFECTIVNESS AND OPERATION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C301A-F2B2-3D7E-405F-FA45A224F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CE28E-0AA7-A7A6-053B-8E961579F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85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B13F0-DD8F-EC94-BD23-F5A8617D0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KPI OVERVIEW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E1939C9-CDBC-4340-A0DF-27ADBB673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18607"/>
            <a:ext cx="9905998" cy="4122964"/>
          </a:xfrm>
        </p:spPr>
        <p:txBody>
          <a:bodyPr/>
          <a:lstStyle/>
          <a:p>
            <a:pPr indent="0">
              <a:buNone/>
            </a:pPr>
            <a:r>
              <a:rPr lang="en-US" dirty="0"/>
              <a:t>TOTAL RECORDS: 1205</a:t>
            </a:r>
          </a:p>
          <a:p>
            <a:pPr indent="0">
              <a:buNone/>
            </a:pPr>
            <a:r>
              <a:rPr lang="en-US" dirty="0"/>
              <a:t>TOTAL REVENUE: 1,264,761.96</a:t>
            </a:r>
          </a:p>
          <a:p>
            <a:pPr indent="0">
              <a:buNone/>
            </a:pPr>
            <a:br>
              <a:rPr lang="en-US" dirty="0"/>
            </a:br>
            <a:r>
              <a:rPr lang="en-US" dirty="0"/>
              <a:t>TOTAL QUANITY SOLD: 3535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AVERAGE SALE: 1053.97</a:t>
            </a:r>
            <a:br>
              <a:rPr lang="en-US" dirty="0"/>
            </a:br>
            <a:r>
              <a:rPr lang="en-US" dirty="0"/>
              <a:t>AVERAGE QUANTITY: 2.95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4A1349-121F-7516-255B-C20440C01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6/7/2026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5E203-5AE3-54DB-D974-FDBDD1940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47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1010A-1D3F-4168-06A2-C03181C3E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72243"/>
          </a:xfrm>
        </p:spPr>
        <p:txBody>
          <a:bodyPr>
            <a:noAutofit/>
          </a:bodyPr>
          <a:lstStyle/>
          <a:p>
            <a:r>
              <a:rPr lang="en-US" sz="2400" dirty="0"/>
              <a:t>Chair and Printer contributed about 31% of the total revenue making them the top products to generate the most revenue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Phones underperform despite strong demand in many retail markets, suggesting pricing or market-fit issues.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F3CE2-3758-B00E-2B6A-34FFFB5B8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4C67F-3830-3AE4-BB80-2C8C7097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F114D90-1557-262D-1552-64CB41CC14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3718201"/>
              </p:ext>
            </p:extLst>
          </p:nvPr>
        </p:nvGraphicFramePr>
        <p:xfrm>
          <a:off x="1141413" y="2516957"/>
          <a:ext cx="9906000" cy="3731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59843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758D9-7401-D9E6-E0FF-F648F869D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02384"/>
          </a:xfrm>
        </p:spPr>
        <p:txBody>
          <a:bodyPr>
            <a:noAutofit/>
          </a:bodyPr>
          <a:lstStyle/>
          <a:p>
            <a:r>
              <a:rPr lang="en-US" sz="2000" dirty="0"/>
              <a:t>The number of cancelled and returned orders exceeds delivered orders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factors that could cause this may include : product quality, customer expectations or logistics quality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48B4B-A786-6EF4-B77F-3078BFF5DB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8206" y="6080289"/>
            <a:ext cx="1310326" cy="443059"/>
          </a:xfrm>
        </p:spPr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CCCAB-C55F-967A-16CD-D082D9A12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78532" y="6080289"/>
            <a:ext cx="631596" cy="443059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FF82E2B-D02D-1B29-96B7-A2E63DC3AA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6242281"/>
              </p:ext>
            </p:extLst>
          </p:nvPr>
        </p:nvGraphicFramePr>
        <p:xfrm>
          <a:off x="1141413" y="2092325"/>
          <a:ext cx="9906000" cy="398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68136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DED84-0AFD-3E68-1BDE-8FE607F05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26590"/>
          </a:xfrm>
        </p:spPr>
        <p:txBody>
          <a:bodyPr/>
          <a:lstStyle/>
          <a:p>
            <a:r>
              <a:rPr lang="en-US" dirty="0"/>
              <a:t>Instagram generates the highest acquisition volume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A91B4-3B69-1739-8E6D-85ACD7058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9DDD4-F7E9-0D66-C8E0-049D0790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6A348A3-3324-039A-E5BE-895AE0A012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9360139"/>
              </p:ext>
            </p:extLst>
          </p:nvPr>
        </p:nvGraphicFramePr>
        <p:xfrm>
          <a:off x="1141413" y="2036763"/>
          <a:ext cx="9906000" cy="3754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28148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0426A-0F1F-BDC2-496B-BC5916E88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520858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Online payments are the preferred payment channel.</a:t>
            </a:r>
            <a:br>
              <a:rPr lang="en-US" sz="2700" dirty="0"/>
            </a:br>
            <a:r>
              <a:rPr lang="en-US" sz="2700" dirty="0"/>
              <a:t>The distribution is balanced, indicating strong customer flexibility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8C301-C8BD-7291-9248-4E45013E3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B87ED-2085-FB98-56B6-187A1A295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D3EA6EE-B40C-4FB1-3DEF-E51024BE9E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6454524"/>
              </p:ext>
            </p:extLst>
          </p:nvPr>
        </p:nvGraphicFramePr>
        <p:xfrm>
          <a:off x="1141413" y="2252663"/>
          <a:ext cx="9906000" cy="3538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38791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E411D-7571-F099-7425-C6D52E2BB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238054"/>
          </a:xfrm>
        </p:spPr>
        <p:txBody>
          <a:bodyPr>
            <a:noAutofit/>
          </a:bodyPr>
          <a:lstStyle/>
          <a:p>
            <a:r>
              <a:rPr lang="en-US" sz="2000" dirty="0"/>
              <a:t>FREESHIP IS THE MOST USED COUPON CODE</a:t>
            </a:r>
            <a:br>
              <a:rPr lang="en-US" sz="2000" dirty="0"/>
            </a:br>
            <a:r>
              <a:rPr lang="en-US" sz="2000" dirty="0"/>
              <a:t>N/A indicates that many customers didn’t use a coupon code, this may mean that they couldn’t get one or they refuse to use one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8B892-520A-B735-FDC7-B9DD5A141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635AB-5FB0-C3AF-CB5B-E92FAB15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4350ABF-9459-4473-433E-14ADF50970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5155559"/>
              </p:ext>
            </p:extLst>
          </p:nvPr>
        </p:nvGraphicFramePr>
        <p:xfrm>
          <a:off x="1141413" y="1960563"/>
          <a:ext cx="9906000" cy="3830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41149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54A8E-EBD2-5DA1-0E72-F96DCA97D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209773"/>
          </a:xfrm>
        </p:spPr>
        <p:txBody>
          <a:bodyPr>
            <a:normAutofit fontScale="90000"/>
          </a:bodyPr>
          <a:lstStyle/>
          <a:p>
            <a:r>
              <a:rPr lang="en-US" sz="2200" dirty="0"/>
              <a:t>Revenue appears to decline over time.</a:t>
            </a:r>
            <a:br>
              <a:rPr lang="en-US" sz="2200" dirty="0"/>
            </a:br>
            <a:r>
              <a:rPr lang="en-US" sz="2200" dirty="0"/>
              <a:t>However: The 2025 data likely represents partial-year data.</a:t>
            </a:r>
            <a:br>
              <a:rPr lang="en-US" sz="2200" dirty="0"/>
            </a:br>
            <a:r>
              <a:rPr lang="en-US" sz="2200" dirty="0"/>
              <a:t>Do not conclude that revenue is falling without full-year data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8A03F-3CB0-54C8-7E61-F9A7CFEF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D886-6C8C-7C78-84CC-E28E42AD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2BBB181-EB95-0656-C56F-B4A4983CAC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8705573"/>
              </p:ext>
            </p:extLst>
          </p:nvPr>
        </p:nvGraphicFramePr>
        <p:xfrm>
          <a:off x="1141413" y="1708221"/>
          <a:ext cx="9906000" cy="4082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02944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C897-F2AE-1786-BE42-C488D5B6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96652"/>
          </a:xfrm>
        </p:spPr>
        <p:txBody>
          <a:bodyPr/>
          <a:lstStyle/>
          <a:p>
            <a:r>
              <a:rPr lang="en-US" dirty="0"/>
              <a:t>RECOMMENDATONS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712BE-B3AD-0761-E393-F9497493C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28421"/>
            <a:ext cx="9905998" cy="43363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Improve Fulfillment Operations: </a:t>
            </a:r>
            <a:r>
              <a:rPr lang="en-US" dirty="0"/>
              <a:t>High cancellation and return rates require investigation</a:t>
            </a:r>
          </a:p>
          <a:p>
            <a:pPr marL="0" indent="0">
              <a:buNone/>
            </a:pPr>
            <a:r>
              <a:rPr lang="en-US" b="1" dirty="0"/>
              <a:t>2. Double Down on High Revenue Products</a:t>
            </a:r>
          </a:p>
          <a:p>
            <a:pPr marL="0" indent="0">
              <a:buNone/>
            </a:pPr>
            <a:r>
              <a:rPr lang="en-US" dirty="0"/>
              <a:t>    Focus marketing on: Chair AND Printer</a:t>
            </a:r>
          </a:p>
          <a:p>
            <a:pPr marL="0" indent="0">
              <a:buNone/>
            </a:pPr>
            <a:r>
              <a:rPr lang="en-US" b="1" dirty="0"/>
              <a:t>3. Expand Instagram Marketing</a:t>
            </a:r>
          </a:p>
          <a:p>
            <a:pPr marL="0" indent="0">
              <a:buNone/>
            </a:pPr>
            <a:r>
              <a:rPr lang="en-US" b="1" dirty="0"/>
              <a:t>4. FOR LOW performing products: </a:t>
            </a:r>
            <a:r>
              <a:rPr lang="en-US" dirty="0"/>
              <a:t>pair them high performing products and introduce bundle deals</a:t>
            </a:r>
          </a:p>
          <a:p>
            <a:pPr marL="0" indent="0">
              <a:buNone/>
            </a:pPr>
            <a:r>
              <a:rPr lang="en-US" b="1" dirty="0"/>
              <a:t>5. Build a Monitoring Dashboard </a:t>
            </a:r>
            <a:r>
              <a:rPr lang="en-US" dirty="0"/>
              <a:t>that tracks revenue, order status, product performance and market performance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A0AE3-D110-FAF3-1A9F-FBFDD70F2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0028-8822-3F46-9369-4E11A89384E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DFFF0-5F45-31F9-C202-0D293662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7885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jpeg"/></Relationships>
</file>

<file path=ppt/theme/theme1.xml><?xml version="1.0" encoding="utf-8"?>
<a:theme xmlns:a="http://schemas.openxmlformats.org/drawingml/2006/main" name="Roman fresco">
  <a:themeElements>
    <a:clrScheme name="Roman Fresco">
      <a:dk1>
        <a:srgbClr val="000000"/>
      </a:dk1>
      <a:lt1>
        <a:srgbClr val="FFFFFF"/>
      </a:lt1>
      <a:dk2>
        <a:srgbClr val="000221"/>
      </a:dk2>
      <a:lt2>
        <a:srgbClr val="F3ECE1"/>
      </a:lt2>
      <a:accent1>
        <a:srgbClr val="11338A"/>
      </a:accent1>
      <a:accent2>
        <a:srgbClr val="E6B916"/>
      </a:accent2>
      <a:accent3>
        <a:srgbClr val="11338A"/>
      </a:accent3>
      <a:accent4>
        <a:srgbClr val="B9D2DF"/>
      </a:accent4>
      <a:accent5>
        <a:srgbClr val="412D2B"/>
      </a:accent5>
      <a:accent6>
        <a:srgbClr val="DB4C3F"/>
      </a:accent6>
      <a:hlink>
        <a:srgbClr val="467886"/>
      </a:hlink>
      <a:folHlink>
        <a:srgbClr val="96607D"/>
      </a:folHlink>
    </a:clrScheme>
    <a:fontScheme name="Custom 81">
      <a:majorFont>
        <a:latin typeface="Urdu Typesetting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oman Fresco_win32_EF_v3" id="{0AF11A7C-A41D-41B6-B350-8E2BC476B03D}" vid="{259414C7-5EB5-4AA2-A628-750D76F2361B}"/>
    </a:ext>
  </a:extLst>
</a:theme>
</file>

<file path=ppt/theme/theme2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C0A7E9-1715-433B-8855-F7DBB272AE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8BD2F9-1572-4D37-B8FD-8AA9FD060A8C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8F5451F-E621-486E-8A64-50FEB3855E59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{2481DF83-3765-4310-802E-140E63CC0D30}331dd956-868b-498c-ac85-8754876205c5-TF91c547f1-df9a-4c72-b625-a0a7ba9e0dab_win32</Template>
  <TotalTime>302</TotalTime>
  <Words>347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Century Gothic</vt:lpstr>
      <vt:lpstr>Univers Light</vt:lpstr>
      <vt:lpstr>Urdu Typesetting</vt:lpstr>
      <vt:lpstr>Roman fresco</vt:lpstr>
      <vt:lpstr>Mesh</vt:lpstr>
      <vt:lpstr>Visualizing e-commerce dynamics  exploratory data analysis</vt:lpstr>
      <vt:lpstr>CORE OBJECTIVE</vt:lpstr>
      <vt:lpstr>KPI OVERVIEW</vt:lpstr>
      <vt:lpstr>Chair and Printer contributed about 31% of the total revenue making them the top products to generate the most revenue  Phones underperform despite strong demand in many retail markets, suggesting pricing or market-fit issues.</vt:lpstr>
      <vt:lpstr>The number of cancelled and returned orders exceeds delivered orders  factors that could cause this may include : product quality, customer expectations or logistics quality</vt:lpstr>
      <vt:lpstr>Instagram generates the highest acquisition volume</vt:lpstr>
      <vt:lpstr>Online payments are the preferred payment channel. The distribution is balanced, indicating strong customer flexibility </vt:lpstr>
      <vt:lpstr>FREESHIP IS THE MOST USED COUPON CODE N/A indicates that many customers didn’t use a coupon code, this may mean that they couldn’t get one or they refuse to use one</vt:lpstr>
      <vt:lpstr>Revenue appears to decline over time. However: The 2025 data likely represents partial-year data. Do not conclude that revenue is falling without full-year data </vt:lpstr>
      <vt:lpstr>RECOMMENDATONS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Ifeanyi Iroha</dc:creator>
  <cp:lastModifiedBy>Ifeanyi Iroha</cp:lastModifiedBy>
  <cp:revision>1</cp:revision>
  <dcterms:created xsi:type="dcterms:W3CDTF">2026-06-07T21:46:39Z</dcterms:created>
  <dcterms:modified xsi:type="dcterms:W3CDTF">2026-06-08T02:48:54Z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